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Lisa % Silent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10/1</c:v>
                  </c:pt>
                  <c:pt idx="1">
                    <c:v>10/2</c:v>
                  </c:pt>
                  <c:pt idx="2">
                    <c:v>10/5</c:v>
                  </c:pt>
                  <c:pt idx="3">
                    <c:v>10/6</c:v>
                  </c:pt>
                  <c:pt idx="4">
                    <c:v>10/7</c:v>
                  </c:pt>
                  <c:pt idx="5">
                    <c:v>10/8</c:v>
                  </c:pt>
                  <c:pt idx="6">
                    <c:v>10/9</c:v>
                  </c:pt>
                  <c:pt idx="7">
                    <c:v>10/13</c:v>
                  </c:pt>
                  <c:pt idx="8">
                    <c:v>10/14</c:v>
                  </c:pt>
                  <c:pt idx="9">
                    <c:v>10/15</c:v>
                  </c:pt>
                  <c:pt idx="10">
                    <c:v>10/16</c:v>
                  </c:pt>
                  <c:pt idx="11">
                    <c:v>10/19</c:v>
                  </c:pt>
                  <c:pt idx="12">
                    <c:v>10/20</c:v>
                  </c:pt>
                  <c:pt idx="13">
                    <c:v>10/21</c:v>
                  </c:pt>
                  <c:pt idx="14">
                    <c:v>10/22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43.9</c:v>
                </c:pt>
                <c:pt idx="1">
                  <c:v>47.6</c:v>
                </c:pt>
                <c:pt idx="2">
                  <c:v>48.8</c:v>
                </c:pt>
                <c:pt idx="3">
                  <c:v>47.9</c:v>
                </c:pt>
                <c:pt idx="4">
                  <c:v>48.8</c:v>
                </c:pt>
                <c:pt idx="5">
                  <c:v>39.8</c:v>
                </c:pt>
                <c:pt idx="6">
                  <c:v>35.2</c:v>
                </c:pt>
                <c:pt idx="7">
                  <c:v>35</c:v>
                </c:pt>
                <c:pt idx="8">
                  <c:v>42.9</c:v>
                </c:pt>
                <c:pt idx="9">
                  <c:v>44.5</c:v>
                </c:pt>
                <c:pt idx="10">
                  <c:v>48.8</c:v>
                </c:pt>
                <c:pt idx="11">
                  <c:v>47.6</c:v>
                </c:pt>
                <c:pt idx="12">
                  <c:v>52.1</c:v>
                </c:pt>
                <c:pt idx="13">
                  <c:v>46.7</c:v>
                </c:pt>
                <c:pt idx="14">
                  <c:v>32.8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22% Goal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10/1</c:v>
                  </c:pt>
                  <c:pt idx="1">
                    <c:v>10/2</c:v>
                  </c:pt>
                  <c:pt idx="2">
                    <c:v>10/5</c:v>
                  </c:pt>
                  <c:pt idx="3">
                    <c:v>10/6</c:v>
                  </c:pt>
                  <c:pt idx="4">
                    <c:v>10/7</c:v>
                  </c:pt>
                  <c:pt idx="5">
                    <c:v>10/8</c:v>
                  </c:pt>
                  <c:pt idx="6">
                    <c:v>10/9</c:v>
                  </c:pt>
                  <c:pt idx="7">
                    <c:v>10/13</c:v>
                  </c:pt>
                  <c:pt idx="8">
                    <c:v>10/14</c:v>
                  </c:pt>
                  <c:pt idx="9">
                    <c:v>10/15</c:v>
                  </c:pt>
                  <c:pt idx="10">
                    <c:v>10/16</c:v>
                  </c:pt>
                  <c:pt idx="11">
                    <c:v>10/19</c:v>
                  </c:pt>
                  <c:pt idx="12">
                    <c:v>10/20</c:v>
                  </c:pt>
                  <c:pt idx="13">
                    <c:v>10/21</c:v>
                  </c:pt>
                  <c:pt idx="14">
                    <c:v>10/22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22</c:v>
                </c:pt>
                <c:pt idx="4">
                  <c:v>22</c:v>
                </c:pt>
                <c:pt idx="5">
                  <c:v>22</c:v>
                </c:pt>
                <c:pt idx="6">
                  <c:v>22</c:v>
                </c:pt>
                <c:pt idx="7">
                  <c:v>22</c:v>
                </c:pt>
                <c:pt idx="8">
                  <c:v>22</c:v>
                </c:pt>
                <c:pt idx="9">
                  <c:v>22</c:v>
                </c:pt>
                <c:pt idx="10">
                  <c:v>22</c:v>
                </c:pt>
                <c:pt idx="11">
                  <c:v>22</c:v>
                </c:pt>
                <c:pt idx="12">
                  <c:v>22</c:v>
                </c:pt>
                <c:pt idx="13">
                  <c:v>22</c:v>
                </c:pt>
                <c:pt idx="14">
                  <c:v>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9E2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C9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C93"/>
                    </a:solidFill>
                    <a:latin typeface="Arial"/>
                  </a:rPr>
                  <a:t>% Silent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6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September averaged 38.3% silent; October month-to-date is 44.6%, a 6.3 point increase. The goal is 22%.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% silent for Lisa, 10/1 to 10/22 (days worked). Weekend/off days not shown. 10/22 is the best day this month at 32.8% but is still ~11 points above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benchmark from the original coaching deck. Lisa: 44.6% silent, 800.7 sec AHT, 400 interactions October MTD (through 10/22). Interaction counts are not like-for-like if the peer figure is a full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phrases to fill silence while researching.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44.6% (Oct MTD) vs target 22%.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Time Coaching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Kalfain  |  Building Consistency Through Customer Engagement</a:t>
            </a:r>
            <a:endParaRPr lang="en-US" sz="2000" dirty="0"/>
          </a:p>
        </p:txBody>
      </p:sp>
      <p:sp>
        <p:nvSpPr>
          <p:cNvPr id="4" name="Card September"/>
          <p:cNvSpPr/>
          <p:nvPr/>
        </p:nvSpPr>
        <p:spPr>
          <a:xfrm>
            <a:off x="731520" y="2926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time</a:t>
            </a:r>
            <a:endParaRPr lang="en-US" sz="1400" dirty="0"/>
          </a:p>
        </p:txBody>
      </p:sp>
      <p:sp>
        <p:nvSpPr>
          <p:cNvPr id="8" name="Card October MTD"/>
          <p:cNvSpPr/>
          <p:nvPr/>
        </p:nvSpPr>
        <p:spPr>
          <a:xfrm>
            <a:off x="3474720" y="2926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MTD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time</a:t>
            </a:r>
            <a:endParaRPr lang="en-US" sz="1400" dirty="0"/>
          </a:p>
        </p:txBody>
      </p:sp>
      <p:sp>
        <p:nvSpPr>
          <p:cNvPr id="12" name="Card Change"/>
          <p:cNvSpPr/>
          <p:nvPr/>
        </p:nvSpPr>
        <p:spPr>
          <a:xfrm>
            <a:off x="6217920" y="2926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+6.3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vs. September</a:t>
            </a:r>
            <a:endParaRPr lang="en-US" sz="1400" dirty="0"/>
          </a:p>
        </p:txBody>
      </p:sp>
      <p:sp>
        <p:nvSpPr>
          <p:cNvPr id="16" name="Card Priority Goal"/>
          <p:cNvSpPr/>
          <p:nvPr/>
        </p:nvSpPr>
        <p:spPr>
          <a:xfrm>
            <a:off x="8961120" y="292608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Goal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time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data through 10/22  |  Source: Silence per interaction reports, Sept &amp; Oct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Trend: Above Goal Every Day</a:t>
            </a:r>
            <a:endParaRPr lang="en-US" sz="3600" dirty="0"/>
          </a:p>
        </p:txBody>
      </p:sp>
      <p:graphicFrame>
        <p:nvGraphicFramePr>
          <p:cNvPr id="3" name="Silent trend chart" descr=""/>
          <p:cNvGraphicFramePr/>
          <p:nvPr/>
        </p:nvGraphicFramePr>
        <p:xfrm>
          <a:off x="548640" y="137160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8503920" y="1371600"/>
            <a:ext cx="3200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463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(10/22) and most recent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8503920" y="2560320"/>
            <a:ext cx="3200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52.1%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day (10/20)</a:t>
            </a:r>
            <a:endParaRPr lang="en-US" sz="1300" dirty="0"/>
          </a:p>
        </p:txBody>
      </p:sp>
      <p:sp>
        <p:nvSpPr>
          <p:cNvPr id="10" name="Stat card 3"/>
          <p:cNvSpPr/>
          <p:nvPr/>
        </p:nvSpPr>
        <p:spPr>
          <a:xfrm>
            <a:off x="8503920" y="3749040"/>
            <a:ext cx="32004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15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under 40%; none at or below 22%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 is to consistently drive performance toward the 22% goal.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Great Looks Like</a:t>
            </a:r>
            <a:endParaRPr lang="en-US" sz="3600" dirty="0"/>
          </a:p>
        </p:txBody>
      </p:sp>
      <p:sp>
        <p:nvSpPr>
          <p:cNvPr id="3" name="Peer Agent card"/>
          <p:cNvSpPr/>
          <p:nvPr/>
        </p:nvSpPr>
        <p:spPr>
          <a:xfrm>
            <a:off x="54864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Agent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AHT (sec)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600" dirty="0"/>
          </a:p>
        </p:txBody>
      </p:sp>
      <p:sp>
        <p:nvSpPr>
          <p:cNvPr id="11" name="Lisa (Oct MTD) card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(Oct MTD)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377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801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AHT (sec)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(thru 10/22)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peer: 22.1 points of silence, 125 sec of AHT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Silence With Communication</a:t>
            </a:r>
            <a:endParaRPr lang="en-US" sz="3600" dirty="0"/>
          </a:p>
        </p:txBody>
      </p:sp>
      <p:sp>
        <p:nvSpPr>
          <p:cNvPr id="3" name="Narrate card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reviewing notes”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checking document status”</a:t>
            </a:r>
            <a:endParaRPr lang="en-US" sz="1800" dirty="0"/>
          </a:p>
        </p:txBody>
      </p:sp>
      <p:sp>
        <p:nvSpPr>
          <p:cNvPr id="8" name="Share Findings card"/>
          <p:cNvSpPr/>
          <p:nvPr/>
        </p:nvSpPr>
        <p:spPr>
          <a:xfrm>
            <a:off x="434340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663440" y="17373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Findings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4290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the payment posted”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not see a service order”</a:t>
            </a:r>
            <a:endParaRPr lang="en-US" sz="1800" dirty="0"/>
          </a:p>
        </p:txBody>
      </p:sp>
      <p:sp>
        <p:nvSpPr>
          <p:cNvPr id="13" name="Update card"/>
          <p:cNvSpPr/>
          <p:nvPr/>
        </p:nvSpPr>
        <p:spPr>
          <a:xfrm>
            <a:off x="813816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8458200" y="173736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4290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still reviewing”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checking billing history now”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</a:t>
            </a:r>
            <a:endParaRPr lang="en-US" sz="3600" dirty="0"/>
          </a:p>
        </p:txBody>
      </p:sp>
      <p:sp>
        <p:nvSpPr>
          <p:cNvPr id="3" name="Check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research</a:t>
            </a:r>
            <a:endParaRPr lang="en-US" sz="2200" dirty="0"/>
          </a:p>
        </p:txBody>
      </p:sp>
      <p:sp>
        <p:nvSpPr>
          <p:cNvPr id="6" name="Check 2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31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20-30 seconds</a:t>
            </a:r>
            <a:endParaRPr lang="en-US" sz="2200" dirty="0"/>
          </a:p>
        </p:txBody>
      </p:sp>
      <p:sp>
        <p:nvSpPr>
          <p:cNvPr id="9" name="Check 3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while researching</a:t>
            </a:r>
            <a:endParaRPr lang="en-US" sz="2200" dirty="0"/>
          </a:p>
        </p:txBody>
      </p:sp>
      <p:sp>
        <p:nvSpPr>
          <p:cNvPr id="12" name="Check 4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69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findings immediately</a:t>
            </a:r>
            <a:endParaRPr lang="en-US" sz="2200" dirty="0"/>
          </a:p>
        </p:txBody>
      </p:sp>
      <p:sp>
        <p:nvSpPr>
          <p:cNvPr id="15" name="Check 5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next steps</a:t>
            </a:r>
            <a:endParaRPr lang="en-US" sz="2200" dirty="0"/>
          </a:p>
        </p:txBody>
      </p:sp>
      <p:sp>
        <p:nvSpPr>
          <p:cNvPr id="18" name="Goal panel"/>
          <p:cNvSpPr/>
          <p:nvPr/>
        </p:nvSpPr>
        <p:spPr>
          <a:xfrm>
            <a:off x="7040880" y="1463040"/>
            <a:ext cx="45720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MTD</a:t>
            </a:r>
            <a:endParaRPr lang="en-US" sz="1300" dirty="0"/>
          </a:p>
        </p:txBody>
      </p:sp>
      <p:sp>
        <p:nvSpPr>
          <p:cNvPr id="24" name="Current bar"/>
          <p:cNvSpPr/>
          <p:nvPr/>
        </p:nvSpPr>
        <p:spPr>
          <a:xfrm>
            <a:off x="7315200" y="3749040"/>
            <a:ext cx="2990698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26" name="Goal bar"/>
          <p:cNvSpPr/>
          <p:nvPr/>
        </p:nvSpPr>
        <p:spPr>
          <a:xfrm>
            <a:off x="7315200" y="4709160"/>
            <a:ext cx="1475232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27592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silent time by 22.6 points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ent Time Coaching">
  <a:themeElements>
    <a:clrScheme name="Silent Time Coaching">
      <a:dk1>
        <a:srgbClr val="16263A"/>
      </a:dk1>
      <a:lt1>
        <a:srgbClr val="FFFFFF"/>
      </a:lt1>
      <a:dk2>
        <a:srgbClr val="1F4E79"/>
      </a:dk2>
      <a:lt2>
        <a:srgbClr val="EEF3F8"/>
      </a:lt2>
      <a:accent1>
        <a:srgbClr val="1F4E79"/>
      </a:accent1>
      <a:accent2>
        <a:srgbClr val="2A9D8F"/>
      </a:accent2>
      <a:accent3>
        <a:srgbClr val="E76F51"/>
      </a:accent3>
      <a:accent4>
        <a:srgbClr val="F4A261"/>
      </a:accent4>
      <a:accent5>
        <a:srgbClr val="6B7C93"/>
      </a:accent5>
      <a:accent6>
        <a:srgbClr val="C8D6E5"/>
      </a:accent6>
      <a:hlink>
        <a:srgbClr val="1F4E79"/>
      </a:hlink>
      <a:folHlink>
        <a:srgbClr val="6B7C93"/>
      </a:folHlink>
    </a:clrScheme>
    <a:fontScheme name="Silent Time Coach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Time Coaching - Lisa Kalfain</dc:title>
  <dc:subject>PptxGenJS Presentation</dc:subject>
  <dc:creator>PptxGenJS</dc:creator>
  <cp:lastModifiedBy>PptxGenJS</cp:lastModifiedBy>
  <cp:revision>1</cp:revision>
  <dcterms:created xsi:type="dcterms:W3CDTF">2026-10-27T15:54:58Z</dcterms:created>
  <dcterms:modified xsi:type="dcterms:W3CDTF">2026-10-27T15:54:58Z</dcterms:modified>
</cp:coreProperties>
</file>